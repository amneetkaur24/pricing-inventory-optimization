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4"/>
  </p:notesMasterIdLst>
  <p:sldIdLst>
    <p:sldId id="259" r:id="rId2"/>
    <p:sldId id="257" r:id="rId3"/>
    <p:sldId id="258" r:id="rId4"/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58272A-6600-4CEF-8007-5888674CF2DD}" v="54" dt="2026-01-06T18:26:52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4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6F8522-1C39-4D02-A86F-CE4378D245B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6A00A57B-83E0-4152-9D52-8317123B297C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CA"/>
            <a:t>Price</a:t>
          </a:r>
        </a:p>
      </dgm:t>
    </dgm:pt>
    <dgm:pt modelId="{DFF9E9F5-64C2-4846-9CE5-A38B837F3789}" type="parTrans" cxnId="{35BBC3F1-B7EF-4820-97D0-6D7E9486ECD4}">
      <dgm:prSet/>
      <dgm:spPr/>
      <dgm:t>
        <a:bodyPr/>
        <a:lstStyle/>
        <a:p>
          <a:endParaRPr lang="en-CA"/>
        </a:p>
      </dgm:t>
    </dgm:pt>
    <dgm:pt modelId="{D7DDCDAC-21C7-4028-86D1-9459826A7AB0}" type="sibTrans" cxnId="{35BBC3F1-B7EF-4820-97D0-6D7E9486ECD4}">
      <dgm:prSet/>
      <dgm:spPr/>
      <dgm:t>
        <a:bodyPr/>
        <a:lstStyle/>
        <a:p>
          <a:endParaRPr lang="en-CA"/>
        </a:p>
      </dgm:t>
    </dgm:pt>
    <dgm:pt modelId="{AF9D138A-7CA9-4999-A8DC-15DB35303211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CA"/>
            <a:t>Demand</a:t>
          </a:r>
        </a:p>
      </dgm:t>
    </dgm:pt>
    <dgm:pt modelId="{6512407B-7BB0-4803-A89E-583C0D0166AC}" type="parTrans" cxnId="{490923A5-86E7-4211-B823-4E119FA1CEE6}">
      <dgm:prSet/>
      <dgm:spPr/>
      <dgm:t>
        <a:bodyPr/>
        <a:lstStyle/>
        <a:p>
          <a:endParaRPr lang="en-CA"/>
        </a:p>
      </dgm:t>
    </dgm:pt>
    <dgm:pt modelId="{53D82125-115B-4CC7-A61C-560D15471516}" type="sibTrans" cxnId="{490923A5-86E7-4211-B823-4E119FA1CEE6}">
      <dgm:prSet/>
      <dgm:spPr/>
      <dgm:t>
        <a:bodyPr/>
        <a:lstStyle/>
        <a:p>
          <a:endParaRPr lang="en-CA"/>
        </a:p>
      </dgm:t>
    </dgm:pt>
    <dgm:pt modelId="{B65B96BA-B206-4477-BE8C-505725E11CA3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CA"/>
            <a:t>Inventory</a:t>
          </a:r>
        </a:p>
      </dgm:t>
    </dgm:pt>
    <dgm:pt modelId="{21B33B16-A3B7-4990-9E38-BBB6D2AADFB9}" type="parTrans" cxnId="{2199EBF8-C1A5-4AC6-9524-7EEFBD35076D}">
      <dgm:prSet/>
      <dgm:spPr/>
      <dgm:t>
        <a:bodyPr/>
        <a:lstStyle/>
        <a:p>
          <a:endParaRPr lang="en-CA"/>
        </a:p>
      </dgm:t>
    </dgm:pt>
    <dgm:pt modelId="{A202EDF4-8118-4379-8678-2A3EE7E97B89}" type="sibTrans" cxnId="{2199EBF8-C1A5-4AC6-9524-7EEFBD35076D}">
      <dgm:prSet/>
      <dgm:spPr/>
      <dgm:t>
        <a:bodyPr/>
        <a:lstStyle/>
        <a:p>
          <a:endParaRPr lang="en-CA"/>
        </a:p>
      </dgm:t>
    </dgm:pt>
    <dgm:pt modelId="{ADDD0CD7-8DFD-47C0-A62A-A0AC1CA525B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Revenue</a:t>
          </a:r>
        </a:p>
      </dgm:t>
    </dgm:pt>
    <dgm:pt modelId="{7339AD07-D2D5-474E-81E1-642530F33C3D}" type="parTrans" cxnId="{A540BBD5-35C0-4E04-8498-3B1AEBF5C7EB}">
      <dgm:prSet/>
      <dgm:spPr/>
      <dgm:t>
        <a:bodyPr/>
        <a:lstStyle/>
        <a:p>
          <a:endParaRPr lang="en-CA"/>
        </a:p>
      </dgm:t>
    </dgm:pt>
    <dgm:pt modelId="{F8B997EA-D786-4F95-8A9F-B06D49F2BEB2}" type="sibTrans" cxnId="{A540BBD5-35C0-4E04-8498-3B1AEBF5C7EB}">
      <dgm:prSet/>
      <dgm:spPr/>
      <dgm:t>
        <a:bodyPr/>
        <a:lstStyle/>
        <a:p>
          <a:endParaRPr lang="en-CA"/>
        </a:p>
      </dgm:t>
    </dgm:pt>
    <dgm:pt modelId="{C2D24663-1CE7-4FBB-BEA6-3EEBB63E73DE}" type="pres">
      <dgm:prSet presAssocID="{126F8522-1C39-4D02-A86F-CE4378D245B7}" presName="root" presStyleCnt="0">
        <dgm:presLayoutVars>
          <dgm:dir/>
          <dgm:resizeHandles val="exact"/>
        </dgm:presLayoutVars>
      </dgm:prSet>
      <dgm:spPr/>
    </dgm:pt>
    <dgm:pt modelId="{0BD4D797-B60F-44A5-85EE-512735B307A1}" type="pres">
      <dgm:prSet presAssocID="{6A00A57B-83E0-4152-9D52-8317123B297C}" presName="compNode" presStyleCnt="0"/>
      <dgm:spPr/>
    </dgm:pt>
    <dgm:pt modelId="{A6B724A9-D18B-4073-A8B1-46EF190FFB71}" type="pres">
      <dgm:prSet presAssocID="{6A00A57B-83E0-4152-9D52-8317123B29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067599B6-5889-4190-9D20-EC38A97347D7}" type="pres">
      <dgm:prSet presAssocID="{6A00A57B-83E0-4152-9D52-8317123B297C}" presName="spaceRect" presStyleCnt="0"/>
      <dgm:spPr/>
    </dgm:pt>
    <dgm:pt modelId="{55EA6EC3-A0FF-48E2-A6B6-9BA959606F85}" type="pres">
      <dgm:prSet presAssocID="{6A00A57B-83E0-4152-9D52-8317123B297C}" presName="textRect" presStyleLbl="revTx" presStyleIdx="0" presStyleCnt="4">
        <dgm:presLayoutVars>
          <dgm:chMax val="1"/>
          <dgm:chPref val="1"/>
        </dgm:presLayoutVars>
      </dgm:prSet>
      <dgm:spPr/>
    </dgm:pt>
    <dgm:pt modelId="{56CD7A92-10BD-4A28-83C0-4C49E1531F77}" type="pres">
      <dgm:prSet presAssocID="{D7DDCDAC-21C7-4028-86D1-9459826A7AB0}" presName="sibTrans" presStyleCnt="0"/>
      <dgm:spPr/>
    </dgm:pt>
    <dgm:pt modelId="{0492289E-8216-4360-A767-9E428A114E45}" type="pres">
      <dgm:prSet presAssocID="{AF9D138A-7CA9-4999-A8DC-15DB35303211}" presName="compNode" presStyleCnt="0"/>
      <dgm:spPr/>
    </dgm:pt>
    <dgm:pt modelId="{6C0A5108-8E46-4B01-B3DB-283950F576EC}" type="pres">
      <dgm:prSet presAssocID="{AF9D138A-7CA9-4999-A8DC-15DB3530321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223B5D0-7FE4-440B-A6C5-65E32CD29F68}" type="pres">
      <dgm:prSet presAssocID="{AF9D138A-7CA9-4999-A8DC-15DB35303211}" presName="spaceRect" presStyleCnt="0"/>
      <dgm:spPr/>
    </dgm:pt>
    <dgm:pt modelId="{E6D12F04-F426-4DF1-AB16-CE437F20AB0C}" type="pres">
      <dgm:prSet presAssocID="{AF9D138A-7CA9-4999-A8DC-15DB35303211}" presName="textRect" presStyleLbl="revTx" presStyleIdx="1" presStyleCnt="4">
        <dgm:presLayoutVars>
          <dgm:chMax val="1"/>
          <dgm:chPref val="1"/>
        </dgm:presLayoutVars>
      </dgm:prSet>
      <dgm:spPr/>
    </dgm:pt>
    <dgm:pt modelId="{837E8F60-C1C1-4583-AD92-AB88364C4E03}" type="pres">
      <dgm:prSet presAssocID="{53D82125-115B-4CC7-A61C-560D15471516}" presName="sibTrans" presStyleCnt="0"/>
      <dgm:spPr/>
    </dgm:pt>
    <dgm:pt modelId="{8DF03000-B263-4A1C-AE5A-82D953B2C17B}" type="pres">
      <dgm:prSet presAssocID="{B65B96BA-B206-4477-BE8C-505725E11CA3}" presName="compNode" presStyleCnt="0"/>
      <dgm:spPr/>
    </dgm:pt>
    <dgm:pt modelId="{2BC59EE1-C09B-497A-9CDC-469712CF9248}" type="pres">
      <dgm:prSet presAssocID="{B65B96BA-B206-4477-BE8C-505725E11C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21D31905-4745-430F-AE96-AAFC2970DDB9}" type="pres">
      <dgm:prSet presAssocID="{B65B96BA-B206-4477-BE8C-505725E11CA3}" presName="spaceRect" presStyleCnt="0"/>
      <dgm:spPr/>
    </dgm:pt>
    <dgm:pt modelId="{2E02AC0B-E6EE-4D80-9C77-36A60ABFD897}" type="pres">
      <dgm:prSet presAssocID="{B65B96BA-B206-4477-BE8C-505725E11CA3}" presName="textRect" presStyleLbl="revTx" presStyleIdx="2" presStyleCnt="4">
        <dgm:presLayoutVars>
          <dgm:chMax val="1"/>
          <dgm:chPref val="1"/>
        </dgm:presLayoutVars>
      </dgm:prSet>
      <dgm:spPr/>
    </dgm:pt>
    <dgm:pt modelId="{DD5150A5-5368-4773-A80C-57A5CB3ACC42}" type="pres">
      <dgm:prSet presAssocID="{A202EDF4-8118-4379-8678-2A3EE7E97B89}" presName="sibTrans" presStyleCnt="0"/>
      <dgm:spPr/>
    </dgm:pt>
    <dgm:pt modelId="{B3682F7D-B947-420C-9E19-95028E1F6236}" type="pres">
      <dgm:prSet presAssocID="{ADDD0CD7-8DFD-47C0-A62A-A0AC1CA525B8}" presName="compNode" presStyleCnt="0"/>
      <dgm:spPr/>
    </dgm:pt>
    <dgm:pt modelId="{6103BAD0-CB6A-40C6-AE36-936F8103F4A1}" type="pres">
      <dgm:prSet presAssocID="{ADDD0CD7-8DFD-47C0-A62A-A0AC1CA525B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CCBAED76-1CE2-483E-85A9-E157E43153C7}" type="pres">
      <dgm:prSet presAssocID="{ADDD0CD7-8DFD-47C0-A62A-A0AC1CA525B8}" presName="spaceRect" presStyleCnt="0"/>
      <dgm:spPr/>
    </dgm:pt>
    <dgm:pt modelId="{B42E55D5-2B0A-4BBF-92A3-36409DA14A70}" type="pres">
      <dgm:prSet presAssocID="{ADDD0CD7-8DFD-47C0-A62A-A0AC1CA525B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CF6A22C-2147-48EA-A58E-27F2349F238E}" type="presOf" srcId="{126F8522-1C39-4D02-A86F-CE4378D245B7}" destId="{C2D24663-1CE7-4FBB-BEA6-3EEBB63E73DE}" srcOrd="0" destOrd="0" presId="urn:microsoft.com/office/officeart/2018/2/layout/IconLabelList"/>
    <dgm:cxn modelId="{EE98DE64-E1BC-473F-9A6F-722F04A1F55C}" type="presOf" srcId="{B65B96BA-B206-4477-BE8C-505725E11CA3}" destId="{2E02AC0B-E6EE-4D80-9C77-36A60ABFD897}" srcOrd="0" destOrd="0" presId="urn:microsoft.com/office/officeart/2018/2/layout/IconLabelList"/>
    <dgm:cxn modelId="{3099F07F-95C0-47B2-B6C2-9371380DC9EA}" type="presOf" srcId="{AF9D138A-7CA9-4999-A8DC-15DB35303211}" destId="{E6D12F04-F426-4DF1-AB16-CE437F20AB0C}" srcOrd="0" destOrd="0" presId="urn:microsoft.com/office/officeart/2018/2/layout/IconLabelList"/>
    <dgm:cxn modelId="{42959089-058C-4F45-8796-2794C28C6EE3}" type="presOf" srcId="{6A00A57B-83E0-4152-9D52-8317123B297C}" destId="{55EA6EC3-A0FF-48E2-A6B6-9BA959606F85}" srcOrd="0" destOrd="0" presId="urn:microsoft.com/office/officeart/2018/2/layout/IconLabelList"/>
    <dgm:cxn modelId="{7461949C-6505-4CC8-95D3-38A45EF220C4}" type="presOf" srcId="{ADDD0CD7-8DFD-47C0-A62A-A0AC1CA525B8}" destId="{B42E55D5-2B0A-4BBF-92A3-36409DA14A70}" srcOrd="0" destOrd="0" presId="urn:microsoft.com/office/officeart/2018/2/layout/IconLabelList"/>
    <dgm:cxn modelId="{490923A5-86E7-4211-B823-4E119FA1CEE6}" srcId="{126F8522-1C39-4D02-A86F-CE4378D245B7}" destId="{AF9D138A-7CA9-4999-A8DC-15DB35303211}" srcOrd="1" destOrd="0" parTransId="{6512407B-7BB0-4803-A89E-583C0D0166AC}" sibTransId="{53D82125-115B-4CC7-A61C-560D15471516}"/>
    <dgm:cxn modelId="{A540BBD5-35C0-4E04-8498-3B1AEBF5C7EB}" srcId="{126F8522-1C39-4D02-A86F-CE4378D245B7}" destId="{ADDD0CD7-8DFD-47C0-A62A-A0AC1CA525B8}" srcOrd="3" destOrd="0" parTransId="{7339AD07-D2D5-474E-81E1-642530F33C3D}" sibTransId="{F8B997EA-D786-4F95-8A9F-B06D49F2BEB2}"/>
    <dgm:cxn modelId="{35BBC3F1-B7EF-4820-97D0-6D7E9486ECD4}" srcId="{126F8522-1C39-4D02-A86F-CE4378D245B7}" destId="{6A00A57B-83E0-4152-9D52-8317123B297C}" srcOrd="0" destOrd="0" parTransId="{DFF9E9F5-64C2-4846-9CE5-A38B837F3789}" sibTransId="{D7DDCDAC-21C7-4028-86D1-9459826A7AB0}"/>
    <dgm:cxn modelId="{2199EBF8-C1A5-4AC6-9524-7EEFBD35076D}" srcId="{126F8522-1C39-4D02-A86F-CE4378D245B7}" destId="{B65B96BA-B206-4477-BE8C-505725E11CA3}" srcOrd="2" destOrd="0" parTransId="{21B33B16-A3B7-4990-9E38-BBB6D2AADFB9}" sibTransId="{A202EDF4-8118-4379-8678-2A3EE7E97B89}"/>
    <dgm:cxn modelId="{B57CCEC2-DD14-45EB-985A-611A0CEC3864}" type="presParOf" srcId="{C2D24663-1CE7-4FBB-BEA6-3EEBB63E73DE}" destId="{0BD4D797-B60F-44A5-85EE-512735B307A1}" srcOrd="0" destOrd="0" presId="urn:microsoft.com/office/officeart/2018/2/layout/IconLabelList"/>
    <dgm:cxn modelId="{599BBCC8-F1D6-49DD-9EC0-5D3F9E8DCA71}" type="presParOf" srcId="{0BD4D797-B60F-44A5-85EE-512735B307A1}" destId="{A6B724A9-D18B-4073-A8B1-46EF190FFB71}" srcOrd="0" destOrd="0" presId="urn:microsoft.com/office/officeart/2018/2/layout/IconLabelList"/>
    <dgm:cxn modelId="{0A9A1082-9AC5-47CE-BF92-9C582ED30547}" type="presParOf" srcId="{0BD4D797-B60F-44A5-85EE-512735B307A1}" destId="{067599B6-5889-4190-9D20-EC38A97347D7}" srcOrd="1" destOrd="0" presId="urn:microsoft.com/office/officeart/2018/2/layout/IconLabelList"/>
    <dgm:cxn modelId="{F0E9115C-248D-4EB0-B6D0-7EB5ED08D3E0}" type="presParOf" srcId="{0BD4D797-B60F-44A5-85EE-512735B307A1}" destId="{55EA6EC3-A0FF-48E2-A6B6-9BA959606F85}" srcOrd="2" destOrd="0" presId="urn:microsoft.com/office/officeart/2018/2/layout/IconLabelList"/>
    <dgm:cxn modelId="{06FB8D3B-92CD-4761-A78B-E263B2DA4182}" type="presParOf" srcId="{C2D24663-1CE7-4FBB-BEA6-3EEBB63E73DE}" destId="{56CD7A92-10BD-4A28-83C0-4C49E1531F77}" srcOrd="1" destOrd="0" presId="urn:microsoft.com/office/officeart/2018/2/layout/IconLabelList"/>
    <dgm:cxn modelId="{2479C24F-E8C9-40EF-86AF-CC110956A9F2}" type="presParOf" srcId="{C2D24663-1CE7-4FBB-BEA6-3EEBB63E73DE}" destId="{0492289E-8216-4360-A767-9E428A114E45}" srcOrd="2" destOrd="0" presId="urn:microsoft.com/office/officeart/2018/2/layout/IconLabelList"/>
    <dgm:cxn modelId="{FEA15CF0-131D-44AB-81D9-82AFE01391DA}" type="presParOf" srcId="{0492289E-8216-4360-A767-9E428A114E45}" destId="{6C0A5108-8E46-4B01-B3DB-283950F576EC}" srcOrd="0" destOrd="0" presId="urn:microsoft.com/office/officeart/2018/2/layout/IconLabelList"/>
    <dgm:cxn modelId="{4E9A263E-7CCA-47F4-86FB-AA770085252B}" type="presParOf" srcId="{0492289E-8216-4360-A767-9E428A114E45}" destId="{0223B5D0-7FE4-440B-A6C5-65E32CD29F68}" srcOrd="1" destOrd="0" presId="urn:microsoft.com/office/officeart/2018/2/layout/IconLabelList"/>
    <dgm:cxn modelId="{6976B4B1-45D6-4E99-B6E0-5696EF11956E}" type="presParOf" srcId="{0492289E-8216-4360-A767-9E428A114E45}" destId="{E6D12F04-F426-4DF1-AB16-CE437F20AB0C}" srcOrd="2" destOrd="0" presId="urn:microsoft.com/office/officeart/2018/2/layout/IconLabelList"/>
    <dgm:cxn modelId="{2A23E9FA-4104-4A74-B884-A4AF5FD3EBC6}" type="presParOf" srcId="{C2D24663-1CE7-4FBB-BEA6-3EEBB63E73DE}" destId="{837E8F60-C1C1-4583-AD92-AB88364C4E03}" srcOrd="3" destOrd="0" presId="urn:microsoft.com/office/officeart/2018/2/layout/IconLabelList"/>
    <dgm:cxn modelId="{D8A10610-7827-4AFE-A63B-F6C702D4ED86}" type="presParOf" srcId="{C2D24663-1CE7-4FBB-BEA6-3EEBB63E73DE}" destId="{8DF03000-B263-4A1C-AE5A-82D953B2C17B}" srcOrd="4" destOrd="0" presId="urn:microsoft.com/office/officeart/2018/2/layout/IconLabelList"/>
    <dgm:cxn modelId="{DBB85640-08C5-4477-AB77-9DAB2F4BF78D}" type="presParOf" srcId="{8DF03000-B263-4A1C-AE5A-82D953B2C17B}" destId="{2BC59EE1-C09B-497A-9CDC-469712CF9248}" srcOrd="0" destOrd="0" presId="urn:microsoft.com/office/officeart/2018/2/layout/IconLabelList"/>
    <dgm:cxn modelId="{3A2C734C-742E-4F4F-A4E4-AE9FC0520594}" type="presParOf" srcId="{8DF03000-B263-4A1C-AE5A-82D953B2C17B}" destId="{21D31905-4745-430F-AE96-AAFC2970DDB9}" srcOrd="1" destOrd="0" presId="urn:microsoft.com/office/officeart/2018/2/layout/IconLabelList"/>
    <dgm:cxn modelId="{316057CD-E337-45ED-A878-91073C995239}" type="presParOf" srcId="{8DF03000-B263-4A1C-AE5A-82D953B2C17B}" destId="{2E02AC0B-E6EE-4D80-9C77-36A60ABFD897}" srcOrd="2" destOrd="0" presId="urn:microsoft.com/office/officeart/2018/2/layout/IconLabelList"/>
    <dgm:cxn modelId="{5E9D3A8F-10D3-47E6-B9CA-EB27A07B2DCD}" type="presParOf" srcId="{C2D24663-1CE7-4FBB-BEA6-3EEBB63E73DE}" destId="{DD5150A5-5368-4773-A80C-57A5CB3ACC42}" srcOrd="5" destOrd="0" presId="urn:microsoft.com/office/officeart/2018/2/layout/IconLabelList"/>
    <dgm:cxn modelId="{6721277C-644C-4CA7-B6C1-6AF82AAA4C69}" type="presParOf" srcId="{C2D24663-1CE7-4FBB-BEA6-3EEBB63E73DE}" destId="{B3682F7D-B947-420C-9E19-95028E1F6236}" srcOrd="6" destOrd="0" presId="urn:microsoft.com/office/officeart/2018/2/layout/IconLabelList"/>
    <dgm:cxn modelId="{DED92C9E-258C-4320-B55F-0A893304904F}" type="presParOf" srcId="{B3682F7D-B947-420C-9E19-95028E1F6236}" destId="{6103BAD0-CB6A-40C6-AE36-936F8103F4A1}" srcOrd="0" destOrd="0" presId="urn:microsoft.com/office/officeart/2018/2/layout/IconLabelList"/>
    <dgm:cxn modelId="{AC6C8433-A9D6-4BA9-90DF-E50FA0B2A37B}" type="presParOf" srcId="{B3682F7D-B947-420C-9E19-95028E1F6236}" destId="{CCBAED76-1CE2-483E-85A9-E157E43153C7}" srcOrd="1" destOrd="0" presId="urn:microsoft.com/office/officeart/2018/2/layout/IconLabelList"/>
    <dgm:cxn modelId="{AB224A6A-0295-42FA-BB58-D39A2C5573DD}" type="presParOf" srcId="{B3682F7D-B947-420C-9E19-95028E1F6236}" destId="{B42E55D5-2B0A-4BBF-92A3-36409DA14A7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724A9-D18B-4073-A8B1-46EF190FFB71}">
      <dsp:nvSpPr>
        <dsp:cNvPr id="0" name=""/>
        <dsp:cNvSpPr/>
      </dsp:nvSpPr>
      <dsp:spPr>
        <a:xfrm>
          <a:off x="994504" y="90250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A6EC3-A0FF-48E2-A6B6-9BA959606F85}">
      <dsp:nvSpPr>
        <dsp:cNvPr id="0" name=""/>
        <dsp:cNvSpPr/>
      </dsp:nvSpPr>
      <dsp:spPr>
        <a:xfrm>
          <a:off x="499504" y="198268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300" kern="1200"/>
            <a:t>Price</a:t>
          </a:r>
        </a:p>
      </dsp:txBody>
      <dsp:txXfrm>
        <a:off x="499504" y="1982688"/>
        <a:ext cx="1800000" cy="720000"/>
      </dsp:txXfrm>
    </dsp:sp>
    <dsp:sp modelId="{6C0A5108-8E46-4B01-B3DB-283950F576EC}">
      <dsp:nvSpPr>
        <dsp:cNvPr id="0" name=""/>
        <dsp:cNvSpPr/>
      </dsp:nvSpPr>
      <dsp:spPr>
        <a:xfrm>
          <a:off x="3109504" y="902509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12F04-F426-4DF1-AB16-CE437F20AB0C}">
      <dsp:nvSpPr>
        <dsp:cNvPr id="0" name=""/>
        <dsp:cNvSpPr/>
      </dsp:nvSpPr>
      <dsp:spPr>
        <a:xfrm>
          <a:off x="2614504" y="198268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300" kern="1200"/>
            <a:t>Demand</a:t>
          </a:r>
        </a:p>
      </dsp:txBody>
      <dsp:txXfrm>
        <a:off x="2614504" y="1982688"/>
        <a:ext cx="1800000" cy="720000"/>
      </dsp:txXfrm>
    </dsp:sp>
    <dsp:sp modelId="{2BC59EE1-C09B-497A-9CDC-469712CF9248}">
      <dsp:nvSpPr>
        <dsp:cNvPr id="0" name=""/>
        <dsp:cNvSpPr/>
      </dsp:nvSpPr>
      <dsp:spPr>
        <a:xfrm>
          <a:off x="5224503" y="902509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02AC0B-E6EE-4D80-9C77-36A60ABFD897}">
      <dsp:nvSpPr>
        <dsp:cNvPr id="0" name=""/>
        <dsp:cNvSpPr/>
      </dsp:nvSpPr>
      <dsp:spPr>
        <a:xfrm>
          <a:off x="4729503" y="198268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300" kern="1200"/>
            <a:t>Inventory</a:t>
          </a:r>
        </a:p>
      </dsp:txBody>
      <dsp:txXfrm>
        <a:off x="4729503" y="1982688"/>
        <a:ext cx="1800000" cy="720000"/>
      </dsp:txXfrm>
    </dsp:sp>
    <dsp:sp modelId="{6103BAD0-CB6A-40C6-AE36-936F8103F4A1}">
      <dsp:nvSpPr>
        <dsp:cNvPr id="0" name=""/>
        <dsp:cNvSpPr/>
      </dsp:nvSpPr>
      <dsp:spPr>
        <a:xfrm>
          <a:off x="7339504" y="90250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E55D5-2B0A-4BBF-92A3-36409DA14A70}">
      <dsp:nvSpPr>
        <dsp:cNvPr id="0" name=""/>
        <dsp:cNvSpPr/>
      </dsp:nvSpPr>
      <dsp:spPr>
        <a:xfrm>
          <a:off x="6844504" y="198268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300" kern="1200"/>
            <a:t>Revenue</a:t>
          </a:r>
        </a:p>
      </dsp:txBody>
      <dsp:txXfrm>
        <a:off x="6844504" y="1982688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C638D-7E7E-4B4F-A384-217090CF47BE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24BFC-4B20-4156-B522-4FB488CFF4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472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2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5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2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6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60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7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0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3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4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88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60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pricing-inventory-optimization-2appeg9cg3dxgr9u6utkhjx.streamlit.app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6811A6C-040C-4C5A-8FF3-63EC6CC40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FC27906-3491-4D48-A4BD-F9C88381A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7279"/>
            <a:ext cx="6095998" cy="2290721"/>
            <a:chOff x="6095998" y="-9073"/>
            <a:chExt cx="6096002" cy="686707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1C35472-1DEA-4BA5-81A5-28525E1D5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D8634E4-D3C6-4641-9894-E7A37348B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8" y="-9073"/>
              <a:ext cx="6095998" cy="6858002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5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3015-D0B3-7D36-2573-C3F6F0710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4" y="397275"/>
            <a:ext cx="5230446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Dynamic Pricing &amp; Inventory-Aware Revenue Optimization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81A2C-8A19-BC20-22C9-853038521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183" y="4846029"/>
            <a:ext cx="5151120" cy="745302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r>
              <a:rPr lang="en-US" sz="2400"/>
              <a:t>End-to-End Pricing Analytics Case Study (Retail / E-commerce)</a:t>
            </a:r>
          </a:p>
        </p:txBody>
      </p: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7F50F11B-CD47-EF93-ADB8-9B4F5973F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930" y="927984"/>
            <a:ext cx="5013960" cy="501396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F25CED2-D7BA-0DEE-3DA3-64A3DDA0E4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6616926" y="5591331"/>
            <a:ext cx="55750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Amneet Kaur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Role: Data Analyst / Data Scientist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 Python, Pandas, Scikit-Learn,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Power BI</a:t>
            </a:r>
          </a:p>
        </p:txBody>
      </p:sp>
    </p:spTree>
    <p:extLst>
      <p:ext uri="{BB962C8B-B14F-4D97-AF65-F5344CB8AC3E}">
        <p14:creationId xmlns:p14="http://schemas.microsoft.com/office/powerpoint/2010/main" val="1446187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54CFA0-E502-4D3A-9FE7-F49553F4D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8D7E30-B50A-4ADD-8244-B02C404B7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1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376B5-05EB-32C8-96F8-D2E61135E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2" y="365125"/>
            <a:ext cx="2644746" cy="2842099"/>
          </a:xfrm>
        </p:spPr>
        <p:txBody>
          <a:bodyPr>
            <a:normAutofit/>
          </a:bodyPr>
          <a:lstStyle/>
          <a:p>
            <a:r>
              <a:rPr lang="en-CA" sz="2800" dirty="0"/>
              <a:t>Business Problem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D6887E-0D0C-441D-AAF6-B1E7D1219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3047997" cy="3438071"/>
            <a:chOff x="0" y="3438071"/>
            <a:chExt cx="3047997" cy="3429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172EC78-01A4-4610-A4CC-20D362172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" y="3438071"/>
              <a:ext cx="3047991" cy="3429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A3A9756-EBE7-453A-A0B3-2931AD3E7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438071"/>
              <a:ext cx="3047997" cy="34290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DDFDF-5E74-A1DD-440D-BFFC2A5D8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700" y="365125"/>
            <a:ext cx="8010099" cy="3267761"/>
          </a:xfrm>
        </p:spPr>
        <p:txBody>
          <a:bodyPr anchor="ctr">
            <a:normAutofit/>
          </a:bodyPr>
          <a:lstStyle/>
          <a:p>
            <a:r>
              <a:rPr lang="en-US" sz="1800" b="1" dirty="0"/>
              <a:t>Retailers face a critical challenge:</a:t>
            </a:r>
          </a:p>
          <a:p>
            <a:r>
              <a:rPr lang="en-US" sz="1800" dirty="0"/>
              <a:t>Setting prices that maximize revenue</a:t>
            </a:r>
          </a:p>
          <a:p>
            <a:r>
              <a:rPr lang="en-US" sz="1800" dirty="0"/>
              <a:t>While avoiding stockouts and operational failures</a:t>
            </a:r>
          </a:p>
          <a:p>
            <a:r>
              <a:rPr lang="en-US" sz="1800" dirty="0"/>
              <a:t>Promotions often boost demand faster than inventory can respond</a:t>
            </a:r>
          </a:p>
          <a:p>
            <a:r>
              <a:rPr lang="en-US" sz="1800" b="1" dirty="0"/>
              <a:t>Key Question:</a:t>
            </a:r>
            <a:endParaRPr lang="en-US" sz="1800" dirty="0"/>
          </a:p>
          <a:p>
            <a:r>
              <a:rPr lang="en-US" sz="1800" dirty="0"/>
              <a:t>How can pricing decisions be optimized while remaining operationally feasible?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B44CB2B-FECA-026D-79E5-33817668CF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220110"/>
              </p:ext>
            </p:extLst>
          </p:nvPr>
        </p:nvGraphicFramePr>
        <p:xfrm>
          <a:off x="3047992" y="3429000"/>
          <a:ext cx="9144008" cy="3605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922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9C07D3D-5CA3-4A1C-8AB8-A54493CF8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806572-907D-4E7C-8770-C6652961E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8885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BC6DA-D88A-8C68-A2FA-41BA92A18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918" y="900751"/>
            <a:ext cx="4918881" cy="52762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Project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28D02-3ECF-DBDF-409F-E4C1A6774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900751"/>
            <a:ext cx="5220212" cy="52762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b="1"/>
              <a:t>This project aims to:</a:t>
            </a:r>
          </a:p>
          <a:p>
            <a:pPr marL="285750">
              <a:lnSpc>
                <a:spcPct val="110000"/>
              </a:lnSpc>
            </a:pPr>
            <a:r>
              <a:rPr lang="en-US" sz="2000"/>
              <a:t>Analyze price elasticity and demand behavior</a:t>
            </a:r>
          </a:p>
          <a:p>
            <a:pPr marL="285750">
              <a:lnSpc>
                <a:spcPct val="110000"/>
              </a:lnSpc>
            </a:pPr>
            <a:r>
              <a:rPr lang="en-US" sz="2000"/>
              <a:t>Simulate pricing scenarios (discounts &amp; price increases)</a:t>
            </a:r>
          </a:p>
          <a:p>
            <a:pPr marL="285750">
              <a:lnSpc>
                <a:spcPct val="110000"/>
              </a:lnSpc>
            </a:pPr>
            <a:r>
              <a:rPr lang="en-US" sz="2000"/>
              <a:t>Forecast demand under different prices</a:t>
            </a:r>
          </a:p>
          <a:p>
            <a:pPr marL="285750">
              <a:lnSpc>
                <a:spcPct val="110000"/>
              </a:lnSpc>
            </a:pPr>
            <a:r>
              <a:rPr lang="en-US" sz="2000"/>
              <a:t>Incorporate inventory constraints</a:t>
            </a:r>
          </a:p>
          <a:p>
            <a:pPr marL="285750">
              <a:lnSpc>
                <a:spcPct val="110000"/>
              </a:lnSpc>
            </a:pPr>
            <a:r>
              <a:rPr lang="en-US" sz="2000"/>
              <a:t>Quantify revenue loss due to stockouts</a:t>
            </a:r>
          </a:p>
          <a:p>
            <a:pPr marL="285750">
              <a:lnSpc>
                <a:spcPct val="110000"/>
              </a:lnSpc>
            </a:pPr>
            <a:r>
              <a:rPr lang="en-US" sz="2000"/>
              <a:t>Recommend safe, data-driven pricing strategies</a:t>
            </a:r>
          </a:p>
          <a:p>
            <a:pPr>
              <a:lnSpc>
                <a:spcPct val="110000"/>
              </a:lnSpc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9838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EA5AB4-2C5A-4C31-87B5-8AEE1ABC8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29884" y="6324431"/>
            <a:ext cx="62116" cy="428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55D03E60-6F40-4141-A981-B061EA33A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E2EB7E5-B231-4A9C-A185-467EC1182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5E3FC-D1F7-C58E-9733-AE6532EB6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365125"/>
            <a:ext cx="10869248" cy="256649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Data Overview &amp; Preparation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E118C08-8B55-40E3-9CEC-FBF3E7856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8998"/>
            <a:ext cx="6095998" cy="3429001"/>
            <a:chOff x="6096002" y="-9073"/>
            <a:chExt cx="6095998" cy="6867073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491841E-34C3-4260-9589-F78AE5FE2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C1B3BAE-A5DE-4215-8FBA-A815A0429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ectangle 3">
            <a:extLst>
              <a:ext uri="{FF2B5EF4-FFF2-40B4-BE49-F238E27FC236}">
                <a16:creationId xmlns:a16="http://schemas.microsoft.com/office/drawing/2014/main" id="{4AA4BF01-B506-9965-C247-1C40B48148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4892" y="3664167"/>
            <a:ext cx="5626308" cy="30892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Transaction-level e-commerce data</a:t>
            </a:r>
          </a:p>
          <a:p>
            <a:pPr marL="0"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Key variables:</a:t>
            </a:r>
          </a:p>
          <a:p>
            <a:pPr marL="0"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Price, Units Sold, Category</a:t>
            </a:r>
          </a:p>
          <a:p>
            <a:pPr marL="0"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Promotions, Competitor Price</a:t>
            </a:r>
          </a:p>
          <a:p>
            <a:pPr marL="0"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Data cleaning:</a:t>
            </a:r>
          </a:p>
          <a:p>
            <a:pPr marL="0"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Missing values handled</a:t>
            </a:r>
          </a:p>
          <a:p>
            <a:pPr marL="0"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Outliers reviewed</a:t>
            </a:r>
          </a:p>
          <a:p>
            <a:pPr marL="0"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Feature engineering applied</a:t>
            </a:r>
          </a:p>
          <a:p>
            <a:pPr marL="0"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E531F7-25D4-814B-D2E9-2163D31D3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198" y="3946746"/>
            <a:ext cx="6794888" cy="246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79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71C7DD5-7534-4C64-85EA-F76DC5A3C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0E09B2-3F30-4CC7-8D68-D65034EA4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62B7E1-CFE5-845D-1C95-831F3B078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" y="365125"/>
            <a:ext cx="5846168" cy="285800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Price Elasticity &amp; Demand Behavior Analysis</a:t>
            </a:r>
            <a:endParaRPr lang="en-CA" sz="46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078E34-F34C-4282-96E4-6D432572B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35FC41C-8786-44E0-B81D-ED9000CF6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967E311-3ADD-4CEE-8B26-8D060DA56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E666-4FC9-24C5-67DA-CE693FCC5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8" y="66270"/>
            <a:ext cx="6096002" cy="315685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Key findings: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Demand decreases as price increases (negative elasticity)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Elasticity varies by category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Promotions significantly increase price sensitivity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Competitive pricing strongly impacts demand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7FD6B-D197-9B1B-9E2E-83C83209A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4746"/>
            <a:ext cx="9338873" cy="347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5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E49391C-5DB9-4E02-A227-B477C19F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29884" y="6324431"/>
            <a:ext cx="62116" cy="428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D884C44-7CDD-43B5-8F1F-3CF2E4355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5666"/>
            <a:ext cx="6095998" cy="3432333"/>
            <a:chOff x="6096002" y="-9073"/>
            <a:chExt cx="6095998" cy="6867073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9DB72BB-BF3A-4B26-B030-A159AEA07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1AAA056-876F-4672-8553-C5D8D7A6B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95999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0970D-08E7-194D-273A-0F38A438E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365125"/>
            <a:ext cx="5022630" cy="243003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Demand Modeling &amp; Revenue Simulation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B493ED-E5CB-DA03-20D6-E8049ECD1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938" y="-1"/>
            <a:ext cx="2748122" cy="1487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5FAD5D-13C9-DF65-D342-C97BCD427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487619"/>
            <a:ext cx="6096002" cy="257189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1DDAD52-BF09-205D-492D-B7C1C7086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12" y="3425665"/>
            <a:ext cx="5971770" cy="343233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Approach: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Linear regression used to model price–demand relationship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Demand simulated across a range of prices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Revenue curves generated to identify optimal price points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Key Insight: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Revenue does not increase linearly with price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Each category has a revenue-maximizing price</a:t>
            </a:r>
          </a:p>
          <a:p>
            <a:pPr>
              <a:lnSpc>
                <a:spcPct val="110000"/>
              </a:lnSpc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688D9B-0EE8-4A9A-B308-AAEB16CE5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4059512"/>
            <a:ext cx="6240907" cy="279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00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FB8D577-336D-4DE0-B777-3D6C33218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BDAAA3-C067-40DD-B017-DF7D5068B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6095998" cy="3429000"/>
            <a:chOff x="6096002" y="-9073"/>
            <a:chExt cx="6095998" cy="686707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1EED8C3-EE63-42CE-BB12-AABCB9AE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EFE36E-C601-44B8-82B8-52F97EE93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D6F65-FA2D-4B38-6D3A-7072E02F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4" y="554893"/>
            <a:ext cx="10769600" cy="25478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Pricing Scenario 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DF3CB-2C49-419F-3D1B-6A16A7DD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657185"/>
            <a:ext cx="6095998" cy="320081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Simulated scenarios: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Baseline pricing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−10% discount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+5% price increase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+10% price increase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Findings: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Discounts generate the highest theoretical revenue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Price increases reduce demand sharply</a:t>
            </a:r>
          </a:p>
          <a:p>
            <a:pPr>
              <a:lnSpc>
                <a:spcPct val="110000"/>
              </a:lnSpc>
            </a:pP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BDAEF6-4EFA-2495-CEA4-FCF85B1D7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757" y="3657185"/>
            <a:ext cx="4082778" cy="26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32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B8D577-336D-4DE0-B777-3D6C33218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BDAAA3-C067-40DD-B017-DF7D5068B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6095998" cy="3429000"/>
            <a:chOff x="6096002" y="-9073"/>
            <a:chExt cx="6095998" cy="68670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EED8C3-EE63-42CE-BB12-AABCB9AE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EFE36E-C601-44B8-82B8-52F97EE93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0A603-4D6E-E419-5974-30B898524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4" y="554893"/>
            <a:ext cx="10769600" cy="25478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Inventory-Aware Revenue Feasibility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8B122-A8F0-3413-0EFB-25EA49B6C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569" y="3657185"/>
            <a:ext cx="4711318" cy="26459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Key logic:</a:t>
            </a:r>
          </a:p>
          <a:p>
            <a:pPr>
              <a:lnSpc>
                <a:spcPct val="110000"/>
              </a:lnSpc>
            </a:pPr>
            <a:r>
              <a:rPr lang="en-US" sz="1500"/>
              <a:t>You can only sell what you have</a:t>
            </a:r>
          </a:p>
          <a:p>
            <a:pPr>
              <a:lnSpc>
                <a:spcPct val="110000"/>
              </a:lnSpc>
            </a:pPr>
            <a:r>
              <a:rPr lang="en-US" sz="1500"/>
              <a:t>Demand exceeding inventory results in lost sales</a:t>
            </a:r>
          </a:p>
          <a:p>
            <a:pPr>
              <a:lnSpc>
                <a:spcPct val="110000"/>
              </a:lnSpc>
            </a:pPr>
            <a:r>
              <a:rPr lang="en-US" sz="1500"/>
              <a:t>What we did:</a:t>
            </a:r>
          </a:p>
          <a:p>
            <a:pPr>
              <a:lnSpc>
                <a:spcPct val="110000"/>
              </a:lnSpc>
            </a:pPr>
            <a:r>
              <a:rPr lang="en-US" sz="1500"/>
              <a:t>Simulated inventory availability</a:t>
            </a:r>
          </a:p>
          <a:p>
            <a:pPr>
              <a:lnSpc>
                <a:spcPct val="110000"/>
              </a:lnSpc>
            </a:pPr>
            <a:r>
              <a:rPr lang="en-US" sz="1500"/>
              <a:t>Calculated fulfilled (feasible) demand</a:t>
            </a:r>
          </a:p>
          <a:p>
            <a:pPr>
              <a:lnSpc>
                <a:spcPct val="110000"/>
              </a:lnSpc>
            </a:pPr>
            <a:r>
              <a:rPr lang="en-US" sz="1500"/>
              <a:t>Compared theoretical vs feasible revenue</a:t>
            </a:r>
          </a:p>
          <a:p>
            <a:pPr>
              <a:lnSpc>
                <a:spcPct val="110000"/>
              </a:lnSpc>
            </a:pPr>
            <a:endParaRPr lang="en-US" sz="15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096EC-636D-ADAB-7F41-A6DDD7088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674" y="4148442"/>
            <a:ext cx="5624944" cy="166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91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885DF3-3C26-4448-BE78-9D9A216C8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065D03-E42E-494E-A2BF-BDA44515C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3" y="2281973"/>
            <a:ext cx="6095998" cy="4576027"/>
            <a:chOff x="6096002" y="-9073"/>
            <a:chExt cx="6095998" cy="68670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E36EAA-FB50-4CB9-95A5-9E82F9271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1778EE-021A-40CF-A18B-1F0A4B2E0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6E7F8-1083-53A4-402D-E32E3A52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217323"/>
            <a:ext cx="11394695" cy="16625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Elasticity &amp; Inventory Risk Segmentation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B61AF-0CB0-1EAF-2EFB-14641D5C5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8088" y="2910177"/>
            <a:ext cx="5311034" cy="31884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Products segmented by:</a:t>
            </a:r>
          </a:p>
          <a:p>
            <a:pPr>
              <a:lnSpc>
                <a:spcPct val="110000"/>
              </a:lnSpc>
            </a:pPr>
            <a:r>
              <a:rPr lang="en-US" sz="1700"/>
              <a:t>Price elasticity (High / Moderate)</a:t>
            </a:r>
          </a:p>
          <a:p>
            <a:pPr>
              <a:lnSpc>
                <a:spcPct val="110000"/>
              </a:lnSpc>
            </a:pPr>
            <a:r>
              <a:rPr lang="en-US" sz="1700"/>
              <a:t>Stockout risk (Low / Medium / High)</a:t>
            </a:r>
          </a:p>
          <a:p>
            <a:pPr>
              <a:lnSpc>
                <a:spcPct val="110000"/>
              </a:lnSpc>
            </a:pPr>
            <a:r>
              <a:rPr lang="en-US" sz="1700"/>
              <a:t>Key insight:</a:t>
            </a:r>
          </a:p>
          <a:p>
            <a:pPr>
              <a:lnSpc>
                <a:spcPct val="110000"/>
              </a:lnSpc>
            </a:pPr>
            <a:r>
              <a:rPr lang="en-US" sz="1700"/>
              <a:t>Highly elastic categories benefit from discounts</a:t>
            </a:r>
          </a:p>
          <a:p>
            <a:pPr>
              <a:lnSpc>
                <a:spcPct val="110000"/>
              </a:lnSpc>
            </a:pPr>
            <a:r>
              <a:rPr lang="en-US" sz="1700"/>
              <a:t>But also face high stockout risk</a:t>
            </a:r>
          </a:p>
          <a:p>
            <a:pPr>
              <a:lnSpc>
                <a:spcPct val="110000"/>
              </a:lnSpc>
            </a:pPr>
            <a:r>
              <a:rPr lang="en-US" sz="1700"/>
              <a:t>Pricing decisions must consider both elasticity and supply risk</a:t>
            </a:r>
          </a:p>
          <a:p>
            <a:pPr>
              <a:lnSpc>
                <a:spcPct val="110000"/>
              </a:lnSpc>
            </a:pPr>
            <a:endParaRPr lang="en-US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8FC8EF-9F36-9405-141B-2BECEAB6F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92904"/>
            <a:ext cx="6408087" cy="195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75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885DF3-3C26-4448-BE78-9D9A216C8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065D03-E42E-494E-A2BF-BDA44515C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3" y="2281973"/>
            <a:ext cx="6095998" cy="4576027"/>
            <a:chOff x="6096002" y="-9073"/>
            <a:chExt cx="6095998" cy="68670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E36EAA-FB50-4CB9-95A5-9E82F9271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1778EE-021A-40CF-A18B-1F0A4B2E0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49107-CFE3-1DB2-6C1F-E0650FEE2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217323"/>
            <a:ext cx="11394695" cy="16625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Business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59C11-5B3E-6460-2F5B-A5D7D4C81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8088" y="2910177"/>
            <a:ext cx="5311034" cy="31884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b="1"/>
              <a:t>Pricing Strategy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Avoid aggressive discounts without inventory buildup</a:t>
            </a:r>
          </a:p>
          <a:p>
            <a:pPr>
              <a:lnSpc>
                <a:spcPct val="110000"/>
              </a:lnSpc>
            </a:pPr>
            <a:r>
              <a:rPr lang="en-US" sz="1500"/>
              <a:t>Prefer moderate price changes with stable fulfillment</a:t>
            </a:r>
          </a:p>
          <a:p>
            <a:pPr>
              <a:lnSpc>
                <a:spcPct val="110000"/>
              </a:lnSpc>
            </a:pPr>
            <a:r>
              <a:rPr lang="en-US" sz="1500" b="1"/>
              <a:t>Inventory Coordination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Increase stock before promotions</a:t>
            </a:r>
          </a:p>
          <a:p>
            <a:pPr>
              <a:lnSpc>
                <a:spcPct val="110000"/>
              </a:lnSpc>
            </a:pPr>
            <a:r>
              <a:rPr lang="en-US" sz="1500"/>
              <a:t>Align pricing with replenishment cycles</a:t>
            </a:r>
          </a:p>
          <a:p>
            <a:pPr>
              <a:lnSpc>
                <a:spcPct val="110000"/>
              </a:lnSpc>
            </a:pPr>
            <a:r>
              <a:rPr lang="en-US" sz="1500" b="1"/>
              <a:t>Strategic Insight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 i="1"/>
              <a:t>Optimize realized revenue, not theoretical demand</a:t>
            </a:r>
            <a:endParaRPr lang="en-US" sz="1500"/>
          </a:p>
          <a:p>
            <a:pPr>
              <a:lnSpc>
                <a:spcPct val="110000"/>
              </a:lnSpc>
            </a:pPr>
            <a:endParaRPr lang="en-US" sz="1500"/>
          </a:p>
        </p:txBody>
      </p:sp>
      <p:pic>
        <p:nvPicPr>
          <p:cNvPr id="7" name="Graphic 6" descr="Onboarding">
            <a:extLst>
              <a:ext uri="{FF2B5EF4-FFF2-40B4-BE49-F238E27FC236}">
                <a16:creationId xmlns:a16="http://schemas.microsoft.com/office/drawing/2014/main" id="{2B057ADA-F817-679B-EAD0-7F742BE23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1523" y="2692712"/>
            <a:ext cx="3528829" cy="352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0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885DF3-3C26-4448-BE78-9D9A216C8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065D03-E42E-494E-A2BF-BDA44515C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3" y="2281973"/>
            <a:ext cx="6095998" cy="4576027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8E36EAA-FB50-4CB9-95A5-9E82F9271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41778EE-021A-40CF-A18B-1F0A4B2E0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79397-8D4E-6055-9D20-491495A04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217323"/>
            <a:ext cx="11394695" cy="16625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Interactive Dashboard &amp; Deployment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A47E3E-262C-C1DA-AD18-FBBE4E6247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0" y="2281972"/>
            <a:ext cx="6096000" cy="45760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110000"/>
              </a:lnSpc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dashboard built for decision-makers</a:t>
            </a:r>
          </a:p>
          <a:p>
            <a:pPr marR="0" lvl="0" fontAlgn="base">
              <a:lnSpc>
                <a:spcPct val="110000"/>
              </a:lnSpc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Features:</a:t>
            </a:r>
          </a:p>
          <a:p>
            <a:pPr marR="0" lvl="0" fontAlgn="base">
              <a:lnSpc>
                <a:spcPct val="110000"/>
              </a:lnSpc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KPI tracking</a:t>
            </a:r>
          </a:p>
          <a:p>
            <a:pPr marR="0" lvl="0" fontAlgn="base">
              <a:lnSpc>
                <a:spcPct val="110000"/>
              </a:lnSpc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Scenario comparison</a:t>
            </a:r>
          </a:p>
          <a:p>
            <a:pPr marR="0" lvl="0" fontAlgn="base">
              <a:lnSpc>
                <a:spcPct val="110000"/>
              </a:lnSpc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Inventory risk alerts</a:t>
            </a:r>
          </a:p>
          <a:p>
            <a:pPr marR="0" lvl="0" fontAlgn="base">
              <a:lnSpc>
                <a:spcPct val="110000"/>
              </a:lnSpc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Deployed online for real-time access</a:t>
            </a:r>
          </a:p>
          <a:p>
            <a:pPr marR="0" lvl="0" fontAlgn="base">
              <a:lnSpc>
                <a:spcPct val="11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000" dirty="0"/>
              <a:t>Live Dashboard Link: </a:t>
            </a:r>
            <a:r>
              <a:rPr lang="en-CA" sz="2000" dirty="0">
                <a:hlinkClick r:id="rId2"/>
              </a:rPr>
              <a:t>Pricing &amp; Inventory Optimization · </a:t>
            </a:r>
            <a:r>
              <a:rPr lang="en-CA" sz="2000" dirty="0" err="1">
                <a:hlinkClick r:id="rId2"/>
              </a:rPr>
              <a:t>Streamlit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8" name="Graphic 7" descr="Gauge">
            <a:extLst>
              <a:ext uri="{FF2B5EF4-FFF2-40B4-BE49-F238E27FC236}">
                <a16:creationId xmlns:a16="http://schemas.microsoft.com/office/drawing/2014/main" id="{8EF11797-7271-1879-1263-AC2E210AC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1523" y="2692712"/>
            <a:ext cx="3528829" cy="352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93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06D43-ECCC-3BE7-C3C2-9113B141D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/>
              <a:t>Project Impact &amp; Skills Demonstrated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E16D0-E27A-4618-4951-00A7A0771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680498"/>
            <a:ext cx="3263823" cy="40930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 b="1" dirty="0"/>
              <a:t>Business Impact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dirty="0"/>
              <a:t>Reduced pricing risk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Improved revenue realization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Inventory-aligned decision making</a:t>
            </a:r>
          </a:p>
          <a:p>
            <a:pPr>
              <a:lnSpc>
                <a:spcPct val="110000"/>
              </a:lnSpc>
            </a:pPr>
            <a:r>
              <a:rPr lang="en-US" sz="1100" b="1" dirty="0"/>
              <a:t>Skills Demonstrated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dirty="0"/>
              <a:t>Data Analysis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Econometrics &amp; Pricing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Forecasting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Scenario Simulation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Business Communication</a:t>
            </a:r>
          </a:p>
          <a:p>
            <a:pPr>
              <a:lnSpc>
                <a:spcPct val="110000"/>
              </a:lnSpc>
            </a:pPr>
            <a:r>
              <a:rPr lang="en-US" sz="1100" dirty="0"/>
              <a:t>Deployment</a:t>
            </a:r>
          </a:p>
          <a:p>
            <a:pPr>
              <a:lnSpc>
                <a:spcPct val="110000"/>
              </a:lnSpc>
            </a:pP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E5B65-43EE-4978-5371-7D248A2BB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27" y="0"/>
            <a:ext cx="9258340" cy="44902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F3632-2C41-45F0-B6DD-4397B4A66FE4}"/>
              </a:ext>
            </a:extLst>
          </p:cNvPr>
          <p:cNvSpPr txBox="1"/>
          <p:nvPr/>
        </p:nvSpPr>
        <p:spPr>
          <a:xfrm>
            <a:off x="5597611" y="4826675"/>
            <a:ext cx="457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🚀 Future Enhancements</a:t>
            </a:r>
          </a:p>
          <a:p>
            <a:r>
              <a:rPr lang="en-US" dirty="0"/>
              <a:t>Non-linear demand models</a:t>
            </a:r>
          </a:p>
          <a:p>
            <a:r>
              <a:rPr lang="en-US" dirty="0"/>
              <a:t>Dynamic pricing optimization</a:t>
            </a:r>
          </a:p>
          <a:p>
            <a:r>
              <a:rPr lang="en-US" dirty="0"/>
              <a:t>Supply-chain lead-time integration</a:t>
            </a:r>
          </a:p>
          <a:p>
            <a:r>
              <a:rPr lang="en-US" dirty="0"/>
              <a:t>SHAP-based explainability</a:t>
            </a:r>
          </a:p>
          <a:p>
            <a:r>
              <a:rPr lang="en-US" dirty="0"/>
              <a:t>Automated price recommendations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43543038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473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Avenir Next LT Pro</vt:lpstr>
      <vt:lpstr>Bahnschrift</vt:lpstr>
      <vt:lpstr>MatrixVTI</vt:lpstr>
      <vt:lpstr>Dynamic Pricing &amp; Inventory-Aware Revenue Optimization</vt:lpstr>
      <vt:lpstr>Business Problem</vt:lpstr>
      <vt:lpstr>Project Objectives</vt:lpstr>
      <vt:lpstr>Data Overview &amp; Preparation</vt:lpstr>
      <vt:lpstr>Price Elasticity &amp; Demand Behavior Analysis</vt:lpstr>
      <vt:lpstr>Demand Modeling &amp; Revenue Simulation</vt:lpstr>
      <vt:lpstr>Pricing Scenario Simulation</vt:lpstr>
      <vt:lpstr>Inventory-Aware Revenue Feasibility</vt:lpstr>
      <vt:lpstr>Elasticity &amp; Inventory Risk Segmentation</vt:lpstr>
      <vt:lpstr>Business Recommendations</vt:lpstr>
      <vt:lpstr>Interactive Dashboard &amp; Deployment</vt:lpstr>
      <vt:lpstr>Project Impact &amp; Skills Demonstrated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amneet kaur</dc:creator>
  <cp:lastModifiedBy>amneet kaur</cp:lastModifiedBy>
  <cp:revision>2</cp:revision>
  <dcterms:created xsi:type="dcterms:W3CDTF">2025-12-22T08:16:42Z</dcterms:created>
  <dcterms:modified xsi:type="dcterms:W3CDTF">2026-01-06T18:28:28Z</dcterms:modified>
</cp:coreProperties>
</file>